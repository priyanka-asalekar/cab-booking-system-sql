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3"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2E9554-E4EC-4655-91F5-13DDF5F4AAF4}" v="1" dt="2026-10-23T14:05:46.0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ttatray Jadhav" userId="9eaba8f7b1766e77" providerId="LiveId" clId="{A74E4FBC-7DD9-48A1-89D9-62F4142C3870}"/>
    <pc:docChg chg="custSel addSld delSld modSld">
      <pc:chgData name="Dattatray Jadhav" userId="9eaba8f7b1766e77" providerId="LiveId" clId="{A74E4FBC-7DD9-48A1-89D9-62F4142C3870}" dt="2026-10-24T06:25:48.898" v="161" actId="1037"/>
      <pc:docMkLst>
        <pc:docMk/>
      </pc:docMkLst>
      <pc:sldChg chg="modSp">
        <pc:chgData name="Dattatray Jadhav" userId="9eaba8f7b1766e77" providerId="LiveId" clId="{A74E4FBC-7DD9-48A1-89D9-62F4142C3870}" dt="2026-10-23T14:05:46.018" v="0"/>
        <pc:sldMkLst>
          <pc:docMk/>
          <pc:sldMk cId="0" sldId="256"/>
        </pc:sldMkLst>
        <pc:spChg chg="mod">
          <ac:chgData name="Dattatray Jadhav" userId="9eaba8f7b1766e77" providerId="LiveId" clId="{A74E4FBC-7DD9-48A1-89D9-62F4142C3870}" dt="2026-10-23T14:05:46.018" v="0"/>
          <ac:spMkLst>
            <pc:docMk/>
            <pc:sldMk cId="0" sldId="256"/>
            <ac:spMk id="7" creationId="{00000000-0000-0000-0000-000000000000}"/>
          </ac:spMkLst>
        </pc:spChg>
      </pc:sldChg>
      <pc:sldChg chg="addSp delSp modSp mod">
        <pc:chgData name="Dattatray Jadhav" userId="9eaba8f7b1766e77" providerId="LiveId" clId="{A74E4FBC-7DD9-48A1-89D9-62F4142C3870}" dt="2026-10-23T17:07:59.358" v="149" actId="14100"/>
        <pc:sldMkLst>
          <pc:docMk/>
          <pc:sldMk cId="0" sldId="260"/>
        </pc:sldMkLst>
        <pc:spChg chg="mod">
          <ac:chgData name="Dattatray Jadhav" userId="9eaba8f7b1766e77" providerId="LiveId" clId="{A74E4FBC-7DD9-48A1-89D9-62F4142C3870}" dt="2026-10-23T17:00:54.249" v="105" actId="1076"/>
          <ac:spMkLst>
            <pc:docMk/>
            <pc:sldMk cId="0" sldId="260"/>
            <ac:spMk id="2" creationId="{00000000-0000-0000-0000-000000000000}"/>
          </ac:spMkLst>
        </pc:spChg>
        <pc:spChg chg="mod">
          <ac:chgData name="Dattatray Jadhav" userId="9eaba8f7b1766e77" providerId="LiveId" clId="{A74E4FBC-7DD9-48A1-89D9-62F4142C3870}" dt="2026-10-23T17:02:09.996" v="127" actId="1035"/>
          <ac:spMkLst>
            <pc:docMk/>
            <pc:sldMk cId="0" sldId="260"/>
            <ac:spMk id="3" creationId="{00000000-0000-0000-0000-000000000000}"/>
          </ac:spMkLst>
        </pc:spChg>
        <pc:picChg chg="add mod">
          <ac:chgData name="Dattatray Jadhav" userId="9eaba8f7b1766e77" providerId="LiveId" clId="{A74E4FBC-7DD9-48A1-89D9-62F4142C3870}" dt="2026-10-23T17:07:59.358" v="149" actId="14100"/>
          <ac:picMkLst>
            <pc:docMk/>
            <pc:sldMk cId="0" sldId="260"/>
            <ac:picMk id="6" creationId="{F4B5D6FA-8A9D-FF37-0F3E-544C678F45A4}"/>
          </ac:picMkLst>
        </pc:picChg>
        <pc:picChg chg="del mod">
          <ac:chgData name="Dattatray Jadhav" userId="9eaba8f7b1766e77" providerId="LiveId" clId="{A74E4FBC-7DD9-48A1-89D9-62F4142C3870}" dt="2026-10-23T17:03:08.958" v="128" actId="478"/>
          <ac:picMkLst>
            <pc:docMk/>
            <pc:sldMk cId="0" sldId="260"/>
            <ac:picMk id="11" creationId="{AC466CEE-1ECA-0EE7-AC29-D440E1563E86}"/>
          </ac:picMkLst>
        </pc:picChg>
      </pc:sldChg>
      <pc:sldChg chg="modSp mod">
        <pc:chgData name="Dattatray Jadhav" userId="9eaba8f7b1766e77" providerId="LiveId" clId="{A74E4FBC-7DD9-48A1-89D9-62F4142C3870}" dt="2026-10-23T17:08:51.631" v="154" actId="20577"/>
        <pc:sldMkLst>
          <pc:docMk/>
          <pc:sldMk cId="0" sldId="261"/>
        </pc:sldMkLst>
        <pc:spChg chg="mod">
          <ac:chgData name="Dattatray Jadhav" userId="9eaba8f7b1766e77" providerId="LiveId" clId="{A74E4FBC-7DD9-48A1-89D9-62F4142C3870}" dt="2026-10-23T17:08:51.631" v="154" actId="20577"/>
          <ac:spMkLst>
            <pc:docMk/>
            <pc:sldMk cId="0" sldId="261"/>
            <ac:spMk id="5" creationId="{00000000-0000-0000-0000-000000000000}"/>
          </ac:spMkLst>
        </pc:spChg>
      </pc:sldChg>
      <pc:sldChg chg="new del">
        <pc:chgData name="Dattatray Jadhav" userId="9eaba8f7b1766e77" providerId="LiveId" clId="{A74E4FBC-7DD9-48A1-89D9-62F4142C3870}" dt="2026-10-23T16:57:11.215" v="2" actId="2696"/>
        <pc:sldMkLst>
          <pc:docMk/>
          <pc:sldMk cId="3024429930" sldId="262"/>
        </pc:sldMkLst>
      </pc:sldChg>
      <pc:sldChg chg="addSp delSp modSp add mod">
        <pc:chgData name="Dattatray Jadhav" userId="9eaba8f7b1766e77" providerId="LiveId" clId="{A74E4FBC-7DD9-48A1-89D9-62F4142C3870}" dt="2026-10-24T06:25:48.898" v="161" actId="1037"/>
        <pc:sldMkLst>
          <pc:docMk/>
          <pc:sldMk cId="3235972552" sldId="262"/>
        </pc:sldMkLst>
        <pc:spChg chg="mod">
          <ac:chgData name="Dattatray Jadhav" userId="9eaba8f7b1766e77" providerId="LiveId" clId="{A74E4FBC-7DD9-48A1-89D9-62F4142C3870}" dt="2026-10-23T17:01:13.321" v="107" actId="1076"/>
          <ac:spMkLst>
            <pc:docMk/>
            <pc:sldMk cId="3235972552" sldId="262"/>
            <ac:spMk id="2" creationId="{1B733703-58A3-D369-9384-9FCBB118EC88}"/>
          </ac:spMkLst>
        </pc:spChg>
        <pc:spChg chg="mod">
          <ac:chgData name="Dattatray Jadhav" userId="9eaba8f7b1766e77" providerId="LiveId" clId="{A74E4FBC-7DD9-48A1-89D9-62F4142C3870}" dt="2026-10-23T17:01:31.167" v="114" actId="1038"/>
          <ac:spMkLst>
            <pc:docMk/>
            <pc:sldMk cId="3235972552" sldId="262"/>
            <ac:spMk id="3" creationId="{9B84332B-C261-78AC-DA00-016D592E3E04}"/>
          </ac:spMkLst>
        </pc:spChg>
        <pc:spChg chg="mod">
          <ac:chgData name="Dattatray Jadhav" userId="9eaba8f7b1766e77" providerId="LiveId" clId="{A74E4FBC-7DD9-48A1-89D9-62F4142C3870}" dt="2026-10-23T17:04:18.620" v="135" actId="20577"/>
          <ac:spMkLst>
            <pc:docMk/>
            <pc:sldMk cId="3235972552" sldId="262"/>
            <ac:spMk id="5" creationId="{940840DE-1756-B2EC-D63A-9195C8046E2F}"/>
          </ac:spMkLst>
        </pc:spChg>
        <pc:picChg chg="add mod">
          <ac:chgData name="Dattatray Jadhav" userId="9eaba8f7b1766e77" providerId="LiveId" clId="{A74E4FBC-7DD9-48A1-89D9-62F4142C3870}" dt="2026-10-24T06:25:48.898" v="161" actId="1037"/>
          <ac:picMkLst>
            <pc:docMk/>
            <pc:sldMk cId="3235972552" sldId="262"/>
            <ac:picMk id="6" creationId="{98AFC699-4A58-03AF-CD3B-FF6248386D8C}"/>
          </ac:picMkLst>
        </pc:picChg>
        <pc:picChg chg="del">
          <ac:chgData name="Dattatray Jadhav" userId="9eaba8f7b1766e77" providerId="LiveId" clId="{A74E4FBC-7DD9-48A1-89D9-62F4142C3870}" dt="2026-10-23T16:57:50.067" v="5" actId="478"/>
          <ac:picMkLst>
            <pc:docMk/>
            <pc:sldMk cId="3235972552" sldId="262"/>
            <ac:picMk id="11" creationId="{8F1042A4-1868-1F16-2468-6D0FFBC86BAF}"/>
          </ac:picMkLst>
        </pc:picChg>
      </pc:sldChg>
      <pc:sldChg chg="addSp delSp modSp add mod">
        <pc:chgData name="Dattatray Jadhav" userId="9eaba8f7b1766e77" providerId="LiveId" clId="{A74E4FBC-7DD9-48A1-89D9-62F4142C3870}" dt="2026-10-24T06:13:55.731" v="158" actId="1038"/>
        <pc:sldMkLst>
          <pc:docMk/>
          <pc:sldMk cId="551137595" sldId="263"/>
        </pc:sldMkLst>
        <pc:spChg chg="mod">
          <ac:chgData name="Dattatray Jadhav" userId="9eaba8f7b1766e77" providerId="LiveId" clId="{A74E4FBC-7DD9-48A1-89D9-62F4142C3870}" dt="2026-10-23T17:08:38.127" v="152" actId="20577"/>
          <ac:spMkLst>
            <pc:docMk/>
            <pc:sldMk cId="551137595" sldId="263"/>
            <ac:spMk id="5" creationId="{B407A4BF-C22A-3D7B-F8E0-52D82AA99D4E}"/>
          </ac:spMkLst>
        </pc:spChg>
        <pc:picChg chg="del">
          <ac:chgData name="Dattatray Jadhav" userId="9eaba8f7b1766e77" providerId="LiveId" clId="{A74E4FBC-7DD9-48A1-89D9-62F4142C3870}" dt="2026-10-23T17:04:34.884" v="138" actId="478"/>
          <ac:picMkLst>
            <pc:docMk/>
            <pc:sldMk cId="551137595" sldId="263"/>
            <ac:picMk id="6" creationId="{091A7DE7-BD5E-203B-0E02-4BB370417FAE}"/>
          </ac:picMkLst>
        </pc:picChg>
        <pc:picChg chg="add mod">
          <ac:chgData name="Dattatray Jadhav" userId="9eaba8f7b1766e77" providerId="LiveId" clId="{A74E4FBC-7DD9-48A1-89D9-62F4142C3870}" dt="2026-10-24T06:13:55.731" v="158" actId="1038"/>
          <ac:picMkLst>
            <pc:docMk/>
            <pc:sldMk cId="551137595" sldId="263"/>
            <ac:picMk id="8" creationId="{3B44C09A-39BF-DB41-BDDF-748D32114858}"/>
          </ac:picMkLst>
        </pc:picChg>
      </pc:sldChg>
      <pc:sldChg chg="add del">
        <pc:chgData name="Dattatray Jadhav" userId="9eaba8f7b1766e77" providerId="LiveId" clId="{A74E4FBC-7DD9-48A1-89D9-62F4142C3870}" dt="2026-10-23T17:04:25.245" v="136" actId="2696"/>
        <pc:sldMkLst>
          <pc:docMk/>
          <pc:sldMk cId="4015578775"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Rectangle 1"/>
          <p:cNvSpPr/>
          <p:nvPr/>
        </p:nvSpPr>
        <p:spPr>
          <a:xfrm>
            <a:off x="8458200" y="0"/>
            <a:ext cx="3733495" cy="6858000"/>
          </a:xfrm>
          <a:prstGeom prst="rect">
            <a:avLst/>
          </a:prstGeom>
          <a:solidFill>
            <a:srgbClr val="273045"/>
          </a:solidFill>
          <a:ln>
            <a:solidFill>
              <a:srgbClr val="273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58200" y="0"/>
            <a:ext cx="109728" cy="6858000"/>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841248"/>
            <a:ext cx="5120640" cy="670953"/>
          </a:xfrm>
          <a:prstGeom prst="rect">
            <a:avLst/>
          </a:prstGeom>
          <a:noFill/>
        </p:spPr>
        <p:txBody>
          <a:bodyPr wrap="square" lIns="27432" tIns="27432" rIns="27432" bIns="27432" anchor="t">
            <a:spAutoFit/>
          </a:bodyPr>
          <a:lstStyle/>
          <a:p>
            <a:r>
              <a:rPr sz="4000" b="1" dirty="0">
                <a:solidFill>
                  <a:srgbClr val="DE1848"/>
                </a:solidFill>
                <a:latin typeface="Aptos"/>
              </a:rPr>
              <a:t>SQL PROJECT</a:t>
            </a:r>
          </a:p>
        </p:txBody>
      </p:sp>
      <p:sp>
        <p:nvSpPr>
          <p:cNvPr id="5" name="TextBox 4"/>
          <p:cNvSpPr txBox="1"/>
          <p:nvPr/>
        </p:nvSpPr>
        <p:spPr>
          <a:xfrm>
            <a:off x="841248" y="1572768"/>
            <a:ext cx="7223760" cy="670953"/>
          </a:xfrm>
          <a:prstGeom prst="rect">
            <a:avLst/>
          </a:prstGeom>
          <a:noFill/>
        </p:spPr>
        <p:txBody>
          <a:bodyPr wrap="square" lIns="27432" tIns="27432" rIns="27432" bIns="27432" anchor="t">
            <a:spAutoFit/>
          </a:bodyPr>
          <a:lstStyle/>
          <a:p>
            <a:r>
              <a:rPr sz="4000" b="1" dirty="0">
                <a:solidFill>
                  <a:srgbClr val="F7F8FB"/>
                </a:solidFill>
                <a:latin typeface="Aptos"/>
              </a:rPr>
              <a:t>Cab Booking</a:t>
            </a:r>
            <a:r>
              <a:rPr lang="en-US" sz="4000" b="1" dirty="0">
                <a:solidFill>
                  <a:srgbClr val="F7F8FB"/>
                </a:solidFill>
                <a:latin typeface="Aptos"/>
              </a:rPr>
              <a:t> </a:t>
            </a:r>
            <a:r>
              <a:rPr sz="4000" b="1" dirty="0">
                <a:solidFill>
                  <a:srgbClr val="F7F8FB"/>
                </a:solidFill>
                <a:latin typeface="Aptos"/>
              </a:rPr>
              <a:t>System</a:t>
            </a:r>
          </a:p>
        </p:txBody>
      </p:sp>
      <p:sp>
        <p:nvSpPr>
          <p:cNvPr id="6" name="TextBox 5"/>
          <p:cNvSpPr txBox="1"/>
          <p:nvPr/>
        </p:nvSpPr>
        <p:spPr>
          <a:xfrm>
            <a:off x="896112" y="2872494"/>
            <a:ext cx="6720840" cy="822960"/>
          </a:xfrm>
          <a:prstGeom prst="rect">
            <a:avLst/>
          </a:prstGeom>
          <a:noFill/>
        </p:spPr>
        <p:txBody>
          <a:bodyPr wrap="square" lIns="27432" tIns="27432" rIns="27432" bIns="27432" anchor="t">
            <a:spAutoFit/>
          </a:bodyPr>
          <a:lstStyle/>
          <a:p>
            <a:r>
              <a:rPr sz="2400" b="0" dirty="0">
                <a:solidFill>
                  <a:srgbClr val="B9C0CF"/>
                </a:solidFill>
                <a:latin typeface="Aptos"/>
              </a:rPr>
              <a:t>Analyzing bookings, customer behavior, driver performance and cab operations using MySQL</a:t>
            </a:r>
          </a:p>
        </p:txBody>
      </p:sp>
      <p:sp>
        <p:nvSpPr>
          <p:cNvPr id="7" name="TextBox 6"/>
          <p:cNvSpPr txBox="1"/>
          <p:nvPr/>
        </p:nvSpPr>
        <p:spPr>
          <a:xfrm>
            <a:off x="896112" y="4370832"/>
            <a:ext cx="6995160" cy="332399"/>
          </a:xfrm>
          <a:prstGeom prst="rect">
            <a:avLst/>
          </a:prstGeom>
          <a:noFill/>
        </p:spPr>
        <p:txBody>
          <a:bodyPr wrap="square" lIns="27432" tIns="27432" rIns="27432" bIns="27432" anchor="t">
            <a:spAutoFit/>
          </a:bodyPr>
          <a:lstStyle/>
          <a:p>
            <a:r>
              <a:rPr b="0" dirty="0">
                <a:solidFill>
                  <a:srgbClr val="F7F8FB"/>
                </a:solidFill>
                <a:latin typeface="Aptos"/>
              </a:rPr>
              <a:t>Tools: </a:t>
            </a:r>
            <a:r>
              <a:rPr lang="en-IN" dirty="0">
                <a:solidFill>
                  <a:srgbClr val="F7F8FB"/>
                </a:solidFill>
                <a:latin typeface="Aptos"/>
              </a:rPr>
              <a:t>• </a:t>
            </a:r>
            <a:r>
              <a:rPr b="0" dirty="0">
                <a:solidFill>
                  <a:srgbClr val="F7F8FB"/>
                </a:solidFill>
                <a:latin typeface="Aptos"/>
              </a:rPr>
              <a:t>MySQL  •  SQL Queries  •  Joins  •  Aggregations  •  Subqueries</a:t>
            </a:r>
          </a:p>
        </p:txBody>
      </p:sp>
      <p:sp>
        <p:nvSpPr>
          <p:cNvPr id="8" name="TextBox 7"/>
          <p:cNvSpPr txBox="1"/>
          <p:nvPr/>
        </p:nvSpPr>
        <p:spPr>
          <a:xfrm>
            <a:off x="896112" y="5806440"/>
            <a:ext cx="5669280" cy="301621"/>
          </a:xfrm>
          <a:prstGeom prst="rect">
            <a:avLst/>
          </a:prstGeom>
          <a:noFill/>
        </p:spPr>
        <p:txBody>
          <a:bodyPr wrap="square" lIns="27432" tIns="27432" rIns="27432" bIns="27432" anchor="t">
            <a:spAutoFit/>
          </a:bodyPr>
          <a:lstStyle/>
          <a:p>
            <a:r>
              <a:rPr sz="1600" b="0" dirty="0">
                <a:solidFill>
                  <a:srgbClr val="B9C0CF"/>
                </a:solidFill>
                <a:latin typeface="Aptos"/>
              </a:rPr>
              <a:t>Prepared by: Priyanka </a:t>
            </a:r>
            <a:r>
              <a:rPr sz="1600" b="0" dirty="0" err="1">
                <a:solidFill>
                  <a:srgbClr val="B9C0CF"/>
                </a:solidFill>
                <a:latin typeface="Aptos"/>
              </a:rPr>
              <a:t>Asalekar</a:t>
            </a:r>
            <a:endParaRPr sz="1600" b="0" dirty="0">
              <a:solidFill>
                <a:srgbClr val="B9C0CF"/>
              </a:solidFill>
              <a:latin typeface="Aptos"/>
            </a:endParaRPr>
          </a:p>
        </p:txBody>
      </p:sp>
      <p:sp>
        <p:nvSpPr>
          <p:cNvPr id="9" name="Rounded Rectangle 8"/>
          <p:cNvSpPr/>
          <p:nvPr/>
        </p:nvSpPr>
        <p:spPr>
          <a:xfrm>
            <a:off x="8979408" y="914400"/>
            <a:ext cx="2514600" cy="685800"/>
          </a:xfrm>
          <a:prstGeom prst="roundRect">
            <a:avLst>
              <a:gd name="adj" fmla="val 12000"/>
            </a:avLst>
          </a:prstGeom>
          <a:solidFill>
            <a:srgbClr val="181F31"/>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17152" y="1121759"/>
            <a:ext cx="1371600" cy="182880"/>
          </a:xfrm>
          <a:prstGeom prst="rect">
            <a:avLst/>
          </a:prstGeom>
          <a:noFill/>
        </p:spPr>
        <p:txBody>
          <a:bodyPr wrap="square" lIns="27432" tIns="27432" rIns="27432" bIns="27432" anchor="t">
            <a:spAutoFit/>
          </a:bodyPr>
          <a:lstStyle/>
          <a:p>
            <a:r>
              <a:rPr sz="1000" b="1" dirty="0">
                <a:solidFill>
                  <a:srgbClr val="B9C0CF"/>
                </a:solidFill>
                <a:latin typeface="Aptos"/>
              </a:rPr>
              <a:t>CUSTOMERS</a:t>
            </a:r>
          </a:p>
        </p:txBody>
      </p:sp>
      <p:sp>
        <p:nvSpPr>
          <p:cNvPr id="11" name="TextBox 10"/>
          <p:cNvSpPr txBox="1"/>
          <p:nvPr/>
        </p:nvSpPr>
        <p:spPr>
          <a:xfrm>
            <a:off x="10195560" y="1140050"/>
            <a:ext cx="1051560" cy="228600"/>
          </a:xfrm>
          <a:prstGeom prst="rect">
            <a:avLst/>
          </a:prstGeom>
          <a:noFill/>
        </p:spPr>
        <p:txBody>
          <a:bodyPr wrap="square" lIns="27432" tIns="27432" rIns="27432" bIns="27432" anchor="t">
            <a:spAutoFit/>
          </a:bodyPr>
          <a:lstStyle/>
          <a:p>
            <a:pPr algn="r"/>
            <a:r>
              <a:rPr sz="950" b="1">
                <a:solidFill>
                  <a:srgbClr val="DE1848"/>
                </a:solidFill>
                <a:latin typeface="Aptos"/>
              </a:rPr>
              <a:t>INSIGHTS</a:t>
            </a:r>
          </a:p>
        </p:txBody>
      </p:sp>
      <p:sp>
        <p:nvSpPr>
          <p:cNvPr id="12" name="Rounded Rectangle 11"/>
          <p:cNvSpPr/>
          <p:nvPr/>
        </p:nvSpPr>
        <p:spPr>
          <a:xfrm>
            <a:off x="8979408" y="1856232"/>
            <a:ext cx="2514600" cy="685800"/>
          </a:xfrm>
          <a:prstGeom prst="roundRect">
            <a:avLst>
              <a:gd name="adj" fmla="val 12000"/>
            </a:avLst>
          </a:prstGeom>
          <a:solidFill>
            <a:srgbClr val="181F31"/>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17152" y="2073424"/>
            <a:ext cx="1371600" cy="182880"/>
          </a:xfrm>
          <a:prstGeom prst="rect">
            <a:avLst/>
          </a:prstGeom>
          <a:noFill/>
        </p:spPr>
        <p:txBody>
          <a:bodyPr wrap="square" lIns="27432" tIns="27432" rIns="27432" bIns="27432" anchor="t">
            <a:spAutoFit/>
          </a:bodyPr>
          <a:lstStyle/>
          <a:p>
            <a:r>
              <a:rPr sz="1000" b="1" dirty="0">
                <a:solidFill>
                  <a:srgbClr val="B9C0CF"/>
                </a:solidFill>
                <a:latin typeface="Aptos"/>
              </a:rPr>
              <a:t>DRIVERS</a:t>
            </a:r>
          </a:p>
        </p:txBody>
      </p:sp>
      <p:sp>
        <p:nvSpPr>
          <p:cNvPr id="14" name="TextBox 13"/>
          <p:cNvSpPr txBox="1"/>
          <p:nvPr/>
        </p:nvSpPr>
        <p:spPr>
          <a:xfrm>
            <a:off x="10195560" y="2091712"/>
            <a:ext cx="1051560" cy="228600"/>
          </a:xfrm>
          <a:prstGeom prst="rect">
            <a:avLst/>
          </a:prstGeom>
          <a:noFill/>
        </p:spPr>
        <p:txBody>
          <a:bodyPr wrap="square" lIns="27432" tIns="27432" rIns="27432" bIns="27432" anchor="t">
            <a:spAutoFit/>
          </a:bodyPr>
          <a:lstStyle/>
          <a:p>
            <a:pPr algn="r"/>
            <a:r>
              <a:rPr sz="950" b="1" dirty="0">
                <a:solidFill>
                  <a:srgbClr val="DE1848"/>
                </a:solidFill>
                <a:latin typeface="Aptos"/>
              </a:rPr>
              <a:t>METRICS</a:t>
            </a:r>
          </a:p>
        </p:txBody>
      </p:sp>
      <p:sp>
        <p:nvSpPr>
          <p:cNvPr id="15" name="Rounded Rectangle 14"/>
          <p:cNvSpPr/>
          <p:nvPr/>
        </p:nvSpPr>
        <p:spPr>
          <a:xfrm>
            <a:off x="8979408" y="2798064"/>
            <a:ext cx="2514600" cy="685800"/>
          </a:xfrm>
          <a:prstGeom prst="roundRect">
            <a:avLst>
              <a:gd name="adj" fmla="val 12000"/>
            </a:avLst>
          </a:prstGeom>
          <a:solidFill>
            <a:srgbClr val="181F31"/>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17152" y="3015258"/>
            <a:ext cx="1371600" cy="182880"/>
          </a:xfrm>
          <a:prstGeom prst="rect">
            <a:avLst/>
          </a:prstGeom>
          <a:noFill/>
        </p:spPr>
        <p:txBody>
          <a:bodyPr wrap="square" lIns="27432" tIns="27432" rIns="27432" bIns="27432" anchor="t">
            <a:spAutoFit/>
          </a:bodyPr>
          <a:lstStyle/>
          <a:p>
            <a:r>
              <a:rPr sz="1000" b="1">
                <a:solidFill>
                  <a:srgbClr val="B9C0CF"/>
                </a:solidFill>
                <a:latin typeface="Aptos"/>
              </a:rPr>
              <a:t>REVENUE</a:t>
            </a:r>
          </a:p>
        </p:txBody>
      </p:sp>
      <p:sp>
        <p:nvSpPr>
          <p:cNvPr id="17" name="TextBox 16"/>
          <p:cNvSpPr txBox="1"/>
          <p:nvPr/>
        </p:nvSpPr>
        <p:spPr>
          <a:xfrm>
            <a:off x="10195560" y="3053209"/>
            <a:ext cx="1051560" cy="228600"/>
          </a:xfrm>
          <a:prstGeom prst="rect">
            <a:avLst/>
          </a:prstGeom>
          <a:noFill/>
        </p:spPr>
        <p:txBody>
          <a:bodyPr wrap="square" lIns="27432" tIns="27432" rIns="27432" bIns="27432" anchor="t">
            <a:spAutoFit/>
          </a:bodyPr>
          <a:lstStyle/>
          <a:p>
            <a:pPr algn="r"/>
            <a:r>
              <a:rPr sz="950" b="1">
                <a:solidFill>
                  <a:srgbClr val="DE1848"/>
                </a:solidFill>
                <a:latin typeface="Aptos"/>
              </a:rPr>
              <a:t>ANALYSIS</a:t>
            </a:r>
          </a:p>
        </p:txBody>
      </p:sp>
      <p:sp>
        <p:nvSpPr>
          <p:cNvPr id="18" name="Rectangle 17"/>
          <p:cNvSpPr/>
          <p:nvPr/>
        </p:nvSpPr>
        <p:spPr>
          <a:xfrm>
            <a:off x="9098280" y="5184648"/>
            <a:ext cx="201168" cy="530352"/>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491472" y="4846320"/>
            <a:ext cx="201168" cy="868680"/>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884663" y="5056632"/>
            <a:ext cx="201168" cy="658368"/>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0277855" y="4480560"/>
            <a:ext cx="201168" cy="1234440"/>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671048" y="4690872"/>
            <a:ext cx="201168" cy="1024128"/>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1064240" y="4233672"/>
            <a:ext cx="201168" cy="148132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52559" y="3835908"/>
            <a:ext cx="2651760" cy="209288"/>
          </a:xfrm>
          <a:prstGeom prst="rect">
            <a:avLst/>
          </a:prstGeom>
          <a:noFill/>
        </p:spPr>
        <p:txBody>
          <a:bodyPr wrap="square" lIns="27432" tIns="27432" rIns="27432" bIns="27432" anchor="t">
            <a:spAutoFit/>
          </a:bodyPr>
          <a:lstStyle/>
          <a:p>
            <a:r>
              <a:rPr sz="1000" b="1" dirty="0">
                <a:solidFill>
                  <a:srgbClr val="F7F8FB"/>
                </a:solidFill>
                <a:latin typeface="Aptos"/>
              </a:rPr>
              <a:t>RELATIONAL DATABASE ANALYSIS</a:t>
            </a:r>
            <a:r>
              <a:rPr lang="en-US" sz="1000" b="1" dirty="0">
                <a:solidFill>
                  <a:srgbClr val="F7F8FB"/>
                </a:solidFill>
                <a:latin typeface="Aptos"/>
              </a:rPr>
              <a:t> </a:t>
            </a:r>
            <a:endParaRPr sz="1000" b="1" dirty="0">
              <a:solidFill>
                <a:srgbClr val="F7F8FB"/>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Project Overview &amp; Objectives</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7458" y="1298448"/>
            <a:ext cx="10698480" cy="363176"/>
          </a:xfrm>
          <a:prstGeom prst="rect">
            <a:avLst/>
          </a:prstGeom>
          <a:noFill/>
        </p:spPr>
        <p:txBody>
          <a:bodyPr wrap="square" lIns="27432" tIns="27432" rIns="27432" bIns="27432" anchor="t">
            <a:spAutoFit/>
          </a:bodyPr>
          <a:lstStyle/>
          <a:p>
            <a:r>
              <a:rPr sz="2000" b="0" dirty="0">
                <a:solidFill>
                  <a:srgbClr val="B9C0CF"/>
                </a:solidFill>
                <a:latin typeface="Aptos"/>
              </a:rPr>
              <a:t>A relational database project focused on cab booking operations and business questions.</a:t>
            </a: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CAB BOOKING SYSTEM  •  02</a:t>
            </a:r>
          </a:p>
        </p:txBody>
      </p:sp>
      <p:sp>
        <p:nvSpPr>
          <p:cNvPr id="6" name="TextBox 5"/>
          <p:cNvSpPr txBox="1"/>
          <p:nvPr/>
        </p:nvSpPr>
        <p:spPr>
          <a:xfrm>
            <a:off x="868680" y="1874519"/>
            <a:ext cx="10287000" cy="978729"/>
          </a:xfrm>
          <a:prstGeom prst="rect">
            <a:avLst/>
          </a:prstGeom>
          <a:noFill/>
        </p:spPr>
        <p:txBody>
          <a:bodyPr wrap="square" lIns="27432" tIns="27432" rIns="27432" bIns="27432" anchor="t">
            <a:spAutoFit/>
          </a:bodyPr>
          <a:lstStyle/>
          <a:p>
            <a:r>
              <a:rPr sz="2000" b="1" dirty="0">
                <a:solidFill>
                  <a:srgbClr val="F7F8FB"/>
                </a:solidFill>
                <a:latin typeface="Aptos"/>
              </a:rPr>
              <a:t>The Cab Booking System database organizes booking, customer, cab, driver, trip and feedback information. SQL queries combine related tables to summarize completed bookings, cancellation behavior, driver performance, revenue and operational efficiency.</a:t>
            </a:r>
          </a:p>
        </p:txBody>
      </p:sp>
      <p:sp>
        <p:nvSpPr>
          <p:cNvPr id="7" name="TextBox 6"/>
          <p:cNvSpPr txBox="1"/>
          <p:nvPr/>
        </p:nvSpPr>
        <p:spPr>
          <a:xfrm>
            <a:off x="896112" y="3246120"/>
            <a:ext cx="2743200" cy="424732"/>
          </a:xfrm>
          <a:prstGeom prst="rect">
            <a:avLst/>
          </a:prstGeom>
          <a:noFill/>
        </p:spPr>
        <p:txBody>
          <a:bodyPr wrap="square" lIns="27432" tIns="27432" rIns="27432" bIns="27432" anchor="t">
            <a:spAutoFit/>
          </a:bodyPr>
          <a:lstStyle/>
          <a:p>
            <a:r>
              <a:rPr sz="2400" b="1" dirty="0">
                <a:solidFill>
                  <a:srgbClr val="DE1848"/>
                </a:solidFill>
                <a:latin typeface="Aptos"/>
              </a:rPr>
              <a:t>OBJECTIVES</a:t>
            </a:r>
          </a:p>
        </p:txBody>
      </p:sp>
      <p:sp>
        <p:nvSpPr>
          <p:cNvPr id="8" name="TextBox 7"/>
          <p:cNvSpPr txBox="1"/>
          <p:nvPr/>
        </p:nvSpPr>
        <p:spPr>
          <a:xfrm>
            <a:off x="914400" y="3657600"/>
            <a:ext cx="10058400" cy="363176"/>
          </a:xfrm>
          <a:prstGeom prst="rect">
            <a:avLst/>
          </a:prstGeom>
          <a:noFill/>
        </p:spPr>
        <p:txBody>
          <a:bodyPr wrap="square" lIns="27432" tIns="27432" rIns="27432" bIns="27432" anchor="t">
            <a:spAutoFit/>
          </a:bodyPr>
          <a:lstStyle/>
          <a:p>
            <a:r>
              <a:rPr sz="2000" b="0" dirty="0">
                <a:solidFill>
                  <a:srgbClr val="F7F8FB"/>
                </a:solidFill>
                <a:latin typeface="Aptos"/>
              </a:rPr>
              <a:t>• Identify frequent customers and booking cancellation patterns.</a:t>
            </a:r>
          </a:p>
        </p:txBody>
      </p:sp>
      <p:sp>
        <p:nvSpPr>
          <p:cNvPr id="9" name="TextBox 8"/>
          <p:cNvSpPr txBox="1"/>
          <p:nvPr/>
        </p:nvSpPr>
        <p:spPr>
          <a:xfrm>
            <a:off x="914400" y="4114800"/>
            <a:ext cx="10058400" cy="363176"/>
          </a:xfrm>
          <a:prstGeom prst="rect">
            <a:avLst/>
          </a:prstGeom>
          <a:noFill/>
        </p:spPr>
        <p:txBody>
          <a:bodyPr wrap="square" lIns="27432" tIns="27432" rIns="27432" bIns="27432" anchor="t">
            <a:spAutoFit/>
          </a:bodyPr>
          <a:lstStyle/>
          <a:p>
            <a:r>
              <a:rPr sz="2000" b="0" dirty="0">
                <a:solidFill>
                  <a:srgbClr val="F7F8FB"/>
                </a:solidFill>
                <a:latin typeface="Aptos"/>
              </a:rPr>
              <a:t>• Evaluate driver ratings, trip distances and cancelled bookings.</a:t>
            </a:r>
          </a:p>
        </p:txBody>
      </p:sp>
      <p:sp>
        <p:nvSpPr>
          <p:cNvPr id="10" name="TextBox 9"/>
          <p:cNvSpPr txBox="1"/>
          <p:nvPr/>
        </p:nvSpPr>
        <p:spPr>
          <a:xfrm>
            <a:off x="914400" y="4572000"/>
            <a:ext cx="10058400" cy="363176"/>
          </a:xfrm>
          <a:prstGeom prst="rect">
            <a:avLst/>
          </a:prstGeom>
          <a:noFill/>
        </p:spPr>
        <p:txBody>
          <a:bodyPr wrap="square" lIns="27432" tIns="27432" rIns="27432" bIns="27432" anchor="t">
            <a:spAutoFit/>
          </a:bodyPr>
          <a:lstStyle/>
          <a:p>
            <a:r>
              <a:rPr sz="2000" b="0" dirty="0">
                <a:solidFill>
                  <a:srgbClr val="F7F8FB"/>
                </a:solidFill>
                <a:latin typeface="Aptos"/>
              </a:rPr>
              <a:t>• Analyze completed-trip revenue, routes and cab-type performance.</a:t>
            </a:r>
          </a:p>
        </p:txBody>
      </p:sp>
      <p:sp>
        <p:nvSpPr>
          <p:cNvPr id="11" name="TextBox 10"/>
          <p:cNvSpPr txBox="1"/>
          <p:nvPr/>
        </p:nvSpPr>
        <p:spPr>
          <a:xfrm>
            <a:off x="914400" y="5029200"/>
            <a:ext cx="10058400" cy="363176"/>
          </a:xfrm>
          <a:prstGeom prst="rect">
            <a:avLst/>
          </a:prstGeom>
          <a:noFill/>
        </p:spPr>
        <p:txBody>
          <a:bodyPr wrap="square" lIns="27432" tIns="27432" rIns="27432" bIns="27432" anchor="t">
            <a:spAutoFit/>
          </a:bodyPr>
          <a:lstStyle/>
          <a:p>
            <a:r>
              <a:rPr sz="2000" b="0" dirty="0">
                <a:solidFill>
                  <a:srgbClr val="F7F8FB"/>
                </a:solidFill>
                <a:latin typeface="Aptos"/>
              </a:rPr>
              <a:t>• Review waiting times, trip-length revenue and weekday/weekend bookings.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Tools &amp; Database Structure</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298448"/>
            <a:ext cx="10698480" cy="424732"/>
          </a:xfrm>
          <a:prstGeom prst="rect">
            <a:avLst/>
          </a:prstGeom>
          <a:noFill/>
        </p:spPr>
        <p:txBody>
          <a:bodyPr wrap="square" lIns="27432" tIns="27432" rIns="27432" bIns="27432" anchor="t">
            <a:spAutoFit/>
          </a:bodyPr>
          <a:lstStyle/>
          <a:p>
            <a:r>
              <a:rPr sz="2400" b="0" dirty="0">
                <a:solidFill>
                  <a:srgbClr val="B9C0CF"/>
                </a:solidFill>
                <a:latin typeface="Aptos"/>
              </a:rPr>
              <a:t>SQL objects and techniques used in the uploaded script.</a:t>
            </a: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CAB BOOKING SYSTEM  •  03</a:t>
            </a:r>
          </a:p>
        </p:txBody>
      </p:sp>
      <p:sp>
        <p:nvSpPr>
          <p:cNvPr id="6" name="TextBox 5"/>
          <p:cNvSpPr txBox="1"/>
          <p:nvPr/>
        </p:nvSpPr>
        <p:spPr>
          <a:xfrm>
            <a:off x="896112" y="1828800"/>
            <a:ext cx="3840480" cy="363176"/>
          </a:xfrm>
          <a:prstGeom prst="rect">
            <a:avLst/>
          </a:prstGeom>
          <a:noFill/>
        </p:spPr>
        <p:txBody>
          <a:bodyPr wrap="square" lIns="27432" tIns="27432" rIns="27432" bIns="27432" anchor="t">
            <a:spAutoFit/>
          </a:bodyPr>
          <a:lstStyle/>
          <a:p>
            <a:r>
              <a:rPr sz="2000" b="1" dirty="0">
                <a:solidFill>
                  <a:srgbClr val="DE1848"/>
                </a:solidFill>
                <a:latin typeface="Aptos"/>
              </a:rPr>
              <a:t>TOOLS &amp; TECHNOLOGY</a:t>
            </a:r>
          </a:p>
        </p:txBody>
      </p:sp>
      <p:sp>
        <p:nvSpPr>
          <p:cNvPr id="7" name="TextBox 6"/>
          <p:cNvSpPr txBox="1"/>
          <p:nvPr/>
        </p:nvSpPr>
        <p:spPr>
          <a:xfrm>
            <a:off x="914400" y="2267712"/>
            <a:ext cx="4251960" cy="640175"/>
          </a:xfrm>
          <a:prstGeom prst="rect">
            <a:avLst/>
          </a:prstGeom>
          <a:noFill/>
        </p:spPr>
        <p:txBody>
          <a:bodyPr wrap="square" lIns="27432" tIns="27432" rIns="27432" bIns="27432" anchor="t">
            <a:spAutoFit/>
          </a:bodyPr>
          <a:lstStyle/>
          <a:p>
            <a:r>
              <a:rPr sz="1900" b="0" dirty="0">
                <a:solidFill>
                  <a:srgbClr val="F7F8FB"/>
                </a:solidFill>
                <a:latin typeface="Aptos"/>
              </a:rPr>
              <a:t>• MySQL Workbench — SQL editor and query execution</a:t>
            </a:r>
          </a:p>
        </p:txBody>
      </p:sp>
      <p:sp>
        <p:nvSpPr>
          <p:cNvPr id="8" name="TextBox 7"/>
          <p:cNvSpPr txBox="1"/>
          <p:nvPr/>
        </p:nvSpPr>
        <p:spPr>
          <a:xfrm>
            <a:off x="914400" y="2938664"/>
            <a:ext cx="4251960" cy="640175"/>
          </a:xfrm>
          <a:prstGeom prst="rect">
            <a:avLst/>
          </a:prstGeom>
          <a:noFill/>
        </p:spPr>
        <p:txBody>
          <a:bodyPr wrap="square" lIns="27432" tIns="27432" rIns="27432" bIns="27432" anchor="t">
            <a:spAutoFit/>
          </a:bodyPr>
          <a:lstStyle/>
          <a:p>
            <a:r>
              <a:rPr sz="1900" b="0" dirty="0">
                <a:solidFill>
                  <a:srgbClr val="F7F8FB"/>
                </a:solidFill>
                <a:latin typeface="Aptos"/>
              </a:rPr>
              <a:t>• MySQL — relational database and schema</a:t>
            </a:r>
          </a:p>
        </p:txBody>
      </p:sp>
      <p:sp>
        <p:nvSpPr>
          <p:cNvPr id="9" name="TextBox 8"/>
          <p:cNvSpPr txBox="1"/>
          <p:nvPr/>
        </p:nvSpPr>
        <p:spPr>
          <a:xfrm>
            <a:off x="914400" y="3619448"/>
            <a:ext cx="4251960" cy="640175"/>
          </a:xfrm>
          <a:prstGeom prst="rect">
            <a:avLst/>
          </a:prstGeom>
          <a:noFill/>
        </p:spPr>
        <p:txBody>
          <a:bodyPr wrap="square" lIns="27432" tIns="27432" rIns="27432" bIns="27432" anchor="t">
            <a:spAutoFit/>
          </a:bodyPr>
          <a:lstStyle/>
          <a:p>
            <a:r>
              <a:rPr sz="1900" b="0" dirty="0">
                <a:solidFill>
                  <a:srgbClr val="F7F8FB"/>
                </a:solidFill>
                <a:latin typeface="Aptos"/>
              </a:rPr>
              <a:t>• SELECT, WHERE, GROUP BY, ORDER BY and HAVING</a:t>
            </a:r>
          </a:p>
        </p:txBody>
      </p:sp>
      <p:sp>
        <p:nvSpPr>
          <p:cNvPr id="10" name="TextBox 9"/>
          <p:cNvSpPr txBox="1"/>
          <p:nvPr/>
        </p:nvSpPr>
        <p:spPr>
          <a:xfrm>
            <a:off x="914400" y="4319897"/>
            <a:ext cx="4251960" cy="347788"/>
          </a:xfrm>
          <a:prstGeom prst="rect">
            <a:avLst/>
          </a:prstGeom>
          <a:noFill/>
        </p:spPr>
        <p:txBody>
          <a:bodyPr wrap="square" lIns="27432" tIns="27432" rIns="27432" bIns="27432" anchor="t">
            <a:spAutoFit/>
          </a:bodyPr>
          <a:lstStyle/>
          <a:p>
            <a:r>
              <a:rPr sz="1900" b="0" dirty="0">
                <a:solidFill>
                  <a:srgbClr val="F7F8FB"/>
                </a:solidFill>
                <a:latin typeface="Aptos"/>
              </a:rPr>
              <a:t>• JOINs across related tables</a:t>
            </a:r>
          </a:p>
        </p:txBody>
      </p:sp>
      <p:sp>
        <p:nvSpPr>
          <p:cNvPr id="11" name="TextBox 10"/>
          <p:cNvSpPr txBox="1"/>
          <p:nvPr/>
        </p:nvSpPr>
        <p:spPr>
          <a:xfrm>
            <a:off x="914400" y="4754880"/>
            <a:ext cx="4251960" cy="640175"/>
          </a:xfrm>
          <a:prstGeom prst="rect">
            <a:avLst/>
          </a:prstGeom>
          <a:noFill/>
        </p:spPr>
        <p:txBody>
          <a:bodyPr wrap="square" lIns="27432" tIns="27432" rIns="27432" bIns="27432" anchor="t">
            <a:spAutoFit/>
          </a:bodyPr>
          <a:lstStyle/>
          <a:p>
            <a:r>
              <a:rPr sz="1900" b="0" dirty="0">
                <a:solidFill>
                  <a:srgbClr val="F7F8FB"/>
                </a:solidFill>
                <a:latin typeface="Aptos"/>
              </a:rPr>
              <a:t>• CASE, aggregate functions, date functions and subqueries</a:t>
            </a:r>
          </a:p>
        </p:txBody>
      </p:sp>
      <p:sp>
        <p:nvSpPr>
          <p:cNvPr id="12" name="TextBox 11"/>
          <p:cNvSpPr txBox="1"/>
          <p:nvPr/>
        </p:nvSpPr>
        <p:spPr>
          <a:xfrm>
            <a:off x="5623560" y="1828800"/>
            <a:ext cx="2743200" cy="363176"/>
          </a:xfrm>
          <a:prstGeom prst="rect">
            <a:avLst/>
          </a:prstGeom>
          <a:noFill/>
        </p:spPr>
        <p:txBody>
          <a:bodyPr wrap="square" lIns="27432" tIns="27432" rIns="27432" bIns="27432" anchor="t">
            <a:spAutoFit/>
          </a:bodyPr>
          <a:lstStyle/>
          <a:p>
            <a:r>
              <a:rPr sz="2000" b="1" dirty="0">
                <a:solidFill>
                  <a:srgbClr val="DE1848"/>
                </a:solidFill>
                <a:latin typeface="Aptos"/>
              </a:rPr>
              <a:t>DATABASE TABLES</a:t>
            </a:r>
          </a:p>
        </p:txBody>
      </p:sp>
      <p:sp>
        <p:nvSpPr>
          <p:cNvPr id="13" name="Rounded Rectangle 12"/>
          <p:cNvSpPr/>
          <p:nvPr/>
        </p:nvSpPr>
        <p:spPr>
          <a:xfrm>
            <a:off x="5650992" y="2331720"/>
            <a:ext cx="2331720" cy="530352"/>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720" y="2496312"/>
            <a:ext cx="2121408" cy="301621"/>
          </a:xfrm>
          <a:prstGeom prst="rect">
            <a:avLst/>
          </a:prstGeom>
          <a:noFill/>
        </p:spPr>
        <p:txBody>
          <a:bodyPr wrap="square" lIns="27432" tIns="27432" rIns="27432" bIns="27432" anchor="t">
            <a:spAutoFit/>
          </a:bodyPr>
          <a:lstStyle/>
          <a:p>
            <a:pPr algn="ctr"/>
            <a:r>
              <a:rPr sz="1600" b="1" dirty="0" err="1">
                <a:solidFill>
                  <a:srgbClr val="F7F8FB"/>
                </a:solidFill>
                <a:latin typeface="Aptos"/>
              </a:rPr>
              <a:t>booking_details</a:t>
            </a:r>
            <a:endParaRPr sz="1600" b="1" dirty="0">
              <a:solidFill>
                <a:srgbClr val="F7F8FB"/>
              </a:solidFill>
              <a:latin typeface="Aptos"/>
            </a:endParaRPr>
          </a:p>
        </p:txBody>
      </p:sp>
      <p:sp>
        <p:nvSpPr>
          <p:cNvPr id="15" name="Rounded Rectangle 14"/>
          <p:cNvSpPr/>
          <p:nvPr/>
        </p:nvSpPr>
        <p:spPr>
          <a:xfrm>
            <a:off x="5650992" y="3154679"/>
            <a:ext cx="2331720" cy="530352"/>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60720" y="3319272"/>
            <a:ext cx="2121408" cy="301621"/>
          </a:xfrm>
          <a:prstGeom prst="rect">
            <a:avLst/>
          </a:prstGeom>
          <a:noFill/>
        </p:spPr>
        <p:txBody>
          <a:bodyPr wrap="square" lIns="27432" tIns="27432" rIns="27432" bIns="27432" anchor="t">
            <a:spAutoFit/>
          </a:bodyPr>
          <a:lstStyle/>
          <a:p>
            <a:pPr algn="ctr"/>
            <a:r>
              <a:rPr sz="1600" b="1" dirty="0" err="1">
                <a:solidFill>
                  <a:srgbClr val="F7F8FB"/>
                </a:solidFill>
                <a:latin typeface="Aptos"/>
              </a:rPr>
              <a:t>cab_details</a:t>
            </a:r>
            <a:endParaRPr sz="1600" b="1" dirty="0">
              <a:solidFill>
                <a:srgbClr val="F7F8FB"/>
              </a:solidFill>
              <a:latin typeface="Aptos"/>
            </a:endParaRPr>
          </a:p>
        </p:txBody>
      </p:sp>
      <p:sp>
        <p:nvSpPr>
          <p:cNvPr id="17" name="Rounded Rectangle 16"/>
          <p:cNvSpPr/>
          <p:nvPr/>
        </p:nvSpPr>
        <p:spPr>
          <a:xfrm>
            <a:off x="5650992" y="3977639"/>
            <a:ext cx="2331720" cy="530352"/>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60720" y="4142231"/>
            <a:ext cx="2121408" cy="301621"/>
          </a:xfrm>
          <a:prstGeom prst="rect">
            <a:avLst/>
          </a:prstGeom>
          <a:noFill/>
        </p:spPr>
        <p:txBody>
          <a:bodyPr wrap="square" lIns="27432" tIns="27432" rIns="27432" bIns="27432" anchor="t">
            <a:spAutoFit/>
          </a:bodyPr>
          <a:lstStyle/>
          <a:p>
            <a:pPr algn="ctr"/>
            <a:r>
              <a:rPr sz="1600" b="1" dirty="0" err="1">
                <a:solidFill>
                  <a:srgbClr val="F7F8FB"/>
                </a:solidFill>
                <a:latin typeface="Aptos"/>
              </a:rPr>
              <a:t>customer_details</a:t>
            </a:r>
            <a:endParaRPr sz="1600" b="1" dirty="0">
              <a:solidFill>
                <a:srgbClr val="F7F8FB"/>
              </a:solidFill>
              <a:latin typeface="Aptos"/>
            </a:endParaRPr>
          </a:p>
        </p:txBody>
      </p:sp>
      <p:sp>
        <p:nvSpPr>
          <p:cNvPr id="19" name="Rounded Rectangle 18"/>
          <p:cNvSpPr/>
          <p:nvPr/>
        </p:nvSpPr>
        <p:spPr>
          <a:xfrm>
            <a:off x="8257031" y="2331720"/>
            <a:ext cx="2331720" cy="530352"/>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66759" y="2496312"/>
            <a:ext cx="2121408" cy="301621"/>
          </a:xfrm>
          <a:prstGeom prst="rect">
            <a:avLst/>
          </a:prstGeom>
          <a:noFill/>
        </p:spPr>
        <p:txBody>
          <a:bodyPr wrap="square" lIns="27432" tIns="27432" rIns="27432" bIns="27432" anchor="t">
            <a:spAutoFit/>
          </a:bodyPr>
          <a:lstStyle/>
          <a:p>
            <a:pPr algn="ctr"/>
            <a:r>
              <a:rPr sz="1600" b="1" dirty="0" err="1">
                <a:solidFill>
                  <a:srgbClr val="F7F8FB"/>
                </a:solidFill>
                <a:latin typeface="Aptos"/>
              </a:rPr>
              <a:t>driver_details</a:t>
            </a:r>
            <a:endParaRPr sz="1600" b="1" dirty="0">
              <a:solidFill>
                <a:srgbClr val="F7F8FB"/>
              </a:solidFill>
              <a:latin typeface="Aptos"/>
            </a:endParaRPr>
          </a:p>
        </p:txBody>
      </p:sp>
      <p:sp>
        <p:nvSpPr>
          <p:cNvPr id="21" name="Rounded Rectangle 20"/>
          <p:cNvSpPr/>
          <p:nvPr/>
        </p:nvSpPr>
        <p:spPr>
          <a:xfrm>
            <a:off x="8257031" y="3154679"/>
            <a:ext cx="2331720" cy="530352"/>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66759" y="3319272"/>
            <a:ext cx="2121408" cy="301621"/>
          </a:xfrm>
          <a:prstGeom prst="rect">
            <a:avLst/>
          </a:prstGeom>
          <a:noFill/>
        </p:spPr>
        <p:txBody>
          <a:bodyPr wrap="square" lIns="27432" tIns="27432" rIns="27432" bIns="27432" anchor="t">
            <a:spAutoFit/>
          </a:bodyPr>
          <a:lstStyle/>
          <a:p>
            <a:pPr algn="ctr"/>
            <a:r>
              <a:rPr sz="1600" b="1" dirty="0" err="1">
                <a:solidFill>
                  <a:srgbClr val="F7F8FB"/>
                </a:solidFill>
                <a:latin typeface="Aptos"/>
              </a:rPr>
              <a:t>feedback_details</a:t>
            </a:r>
            <a:endParaRPr sz="1600" b="1" dirty="0">
              <a:solidFill>
                <a:srgbClr val="F7F8FB"/>
              </a:solidFill>
              <a:latin typeface="Aptos"/>
            </a:endParaRPr>
          </a:p>
        </p:txBody>
      </p:sp>
      <p:sp>
        <p:nvSpPr>
          <p:cNvPr id="23" name="Rounded Rectangle 22"/>
          <p:cNvSpPr/>
          <p:nvPr/>
        </p:nvSpPr>
        <p:spPr>
          <a:xfrm>
            <a:off x="8257031" y="3977639"/>
            <a:ext cx="2331720" cy="530352"/>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66759" y="4142231"/>
            <a:ext cx="2121408" cy="301621"/>
          </a:xfrm>
          <a:prstGeom prst="rect">
            <a:avLst/>
          </a:prstGeom>
          <a:noFill/>
        </p:spPr>
        <p:txBody>
          <a:bodyPr wrap="square" lIns="27432" tIns="27432" rIns="27432" bIns="27432" anchor="t">
            <a:spAutoFit/>
          </a:bodyPr>
          <a:lstStyle/>
          <a:p>
            <a:pPr algn="ctr"/>
            <a:r>
              <a:rPr sz="1600" b="1" dirty="0" err="1">
                <a:solidFill>
                  <a:srgbClr val="F7F8FB"/>
                </a:solidFill>
                <a:latin typeface="Aptos"/>
              </a:rPr>
              <a:t>trip_details</a:t>
            </a:r>
            <a:endParaRPr sz="1600" b="1" dirty="0">
              <a:solidFill>
                <a:srgbClr val="F7F8FB"/>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Functionality &amp; Approach</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298448"/>
            <a:ext cx="10698480" cy="363176"/>
          </a:xfrm>
          <a:prstGeom prst="rect">
            <a:avLst/>
          </a:prstGeom>
          <a:noFill/>
        </p:spPr>
        <p:txBody>
          <a:bodyPr wrap="square" lIns="27432" tIns="27432" rIns="27432" bIns="27432" anchor="t">
            <a:spAutoFit/>
          </a:bodyPr>
          <a:lstStyle/>
          <a:p>
            <a:r>
              <a:rPr sz="2000" b="0" dirty="0">
                <a:solidFill>
                  <a:srgbClr val="B9C0CF"/>
                </a:solidFill>
                <a:latin typeface="Aptos"/>
              </a:rPr>
              <a:t>How the SQL queries address operational and business questions.</a:t>
            </a: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CAB BOOKING SYSTEM  •  04</a:t>
            </a:r>
          </a:p>
        </p:txBody>
      </p:sp>
      <p:sp>
        <p:nvSpPr>
          <p:cNvPr id="6" name="Rectangle 5"/>
          <p:cNvSpPr/>
          <p:nvPr/>
        </p:nvSpPr>
        <p:spPr>
          <a:xfrm>
            <a:off x="896112" y="1861736"/>
            <a:ext cx="109728" cy="758952"/>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988181"/>
            <a:ext cx="3246120" cy="332399"/>
          </a:xfrm>
          <a:prstGeom prst="rect">
            <a:avLst/>
          </a:prstGeom>
          <a:noFill/>
        </p:spPr>
        <p:txBody>
          <a:bodyPr wrap="square" lIns="27432" tIns="27432" rIns="27432" bIns="27432" anchor="t">
            <a:spAutoFit/>
          </a:bodyPr>
          <a:lstStyle/>
          <a:p>
            <a:r>
              <a:rPr b="1" dirty="0">
                <a:solidFill>
                  <a:srgbClr val="F7F8FB"/>
                </a:solidFill>
                <a:latin typeface="Aptos"/>
              </a:rPr>
              <a:t>Customer &amp; booking analysis</a:t>
            </a:r>
          </a:p>
        </p:txBody>
      </p:sp>
      <p:sp>
        <p:nvSpPr>
          <p:cNvPr id="8" name="TextBox 7"/>
          <p:cNvSpPr txBox="1"/>
          <p:nvPr/>
        </p:nvSpPr>
        <p:spPr>
          <a:xfrm>
            <a:off x="4526280" y="1919353"/>
            <a:ext cx="6446520" cy="886397"/>
          </a:xfrm>
          <a:prstGeom prst="rect">
            <a:avLst/>
          </a:prstGeom>
          <a:noFill/>
        </p:spPr>
        <p:txBody>
          <a:bodyPr wrap="square" lIns="27432" tIns="27432" rIns="27432" bIns="27432" anchor="t">
            <a:spAutoFit/>
          </a:bodyPr>
          <a:lstStyle/>
          <a:p>
            <a:r>
              <a:rPr b="0" dirty="0">
                <a:solidFill>
                  <a:srgbClr val="B9C0CF"/>
                </a:solidFill>
                <a:latin typeface="Aptos"/>
              </a:rPr>
              <a:t>Completed booking counts, cancellation percentages, busiest booking days and customers above average completed-trip spending.</a:t>
            </a:r>
          </a:p>
        </p:txBody>
      </p:sp>
      <p:sp>
        <p:nvSpPr>
          <p:cNvPr id="9" name="Rectangle 8"/>
          <p:cNvSpPr/>
          <p:nvPr/>
        </p:nvSpPr>
        <p:spPr>
          <a:xfrm>
            <a:off x="896112" y="2930896"/>
            <a:ext cx="109728" cy="758952"/>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3126160"/>
            <a:ext cx="3246120" cy="332399"/>
          </a:xfrm>
          <a:prstGeom prst="rect">
            <a:avLst/>
          </a:prstGeom>
          <a:noFill/>
        </p:spPr>
        <p:txBody>
          <a:bodyPr wrap="square" lIns="27432" tIns="27432" rIns="27432" bIns="27432" anchor="t">
            <a:spAutoFit/>
          </a:bodyPr>
          <a:lstStyle/>
          <a:p>
            <a:r>
              <a:rPr b="1" dirty="0">
                <a:solidFill>
                  <a:srgbClr val="F7F8FB"/>
                </a:solidFill>
                <a:latin typeface="Aptos"/>
              </a:rPr>
              <a:t>Driver performance</a:t>
            </a:r>
          </a:p>
        </p:txBody>
      </p:sp>
      <p:sp>
        <p:nvSpPr>
          <p:cNvPr id="11" name="TextBox 10"/>
          <p:cNvSpPr txBox="1"/>
          <p:nvPr/>
        </p:nvSpPr>
        <p:spPr>
          <a:xfrm>
            <a:off x="4526280" y="3037672"/>
            <a:ext cx="6446520" cy="609398"/>
          </a:xfrm>
          <a:prstGeom prst="rect">
            <a:avLst/>
          </a:prstGeom>
          <a:noFill/>
        </p:spPr>
        <p:txBody>
          <a:bodyPr wrap="square" lIns="27432" tIns="27432" rIns="27432" bIns="27432" anchor="t">
            <a:spAutoFit/>
          </a:bodyPr>
          <a:lstStyle/>
          <a:p>
            <a:r>
              <a:rPr b="0" dirty="0">
                <a:solidFill>
                  <a:srgbClr val="B9C0CF"/>
                </a:solidFill>
                <a:latin typeface="Aptos"/>
              </a:rPr>
              <a:t>Average feedback ratings over the past three months, top drivers by distance, and driver cancellation percentages.</a:t>
            </a:r>
          </a:p>
        </p:txBody>
      </p:sp>
      <p:sp>
        <p:nvSpPr>
          <p:cNvPr id="12" name="Rectangle 11"/>
          <p:cNvSpPr/>
          <p:nvPr/>
        </p:nvSpPr>
        <p:spPr>
          <a:xfrm>
            <a:off x="896112" y="3941063"/>
            <a:ext cx="109728" cy="758952"/>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4155993"/>
            <a:ext cx="3246120" cy="332399"/>
          </a:xfrm>
          <a:prstGeom prst="rect">
            <a:avLst/>
          </a:prstGeom>
          <a:noFill/>
        </p:spPr>
        <p:txBody>
          <a:bodyPr wrap="square" lIns="27432" tIns="27432" rIns="27432" bIns="27432" anchor="t">
            <a:spAutoFit/>
          </a:bodyPr>
          <a:lstStyle/>
          <a:p>
            <a:r>
              <a:rPr b="1" dirty="0">
                <a:solidFill>
                  <a:srgbClr val="F7F8FB"/>
                </a:solidFill>
                <a:latin typeface="Aptos"/>
              </a:rPr>
              <a:t>Revenue &amp; operations</a:t>
            </a:r>
          </a:p>
        </p:txBody>
      </p:sp>
      <p:sp>
        <p:nvSpPr>
          <p:cNvPr id="14" name="TextBox 13"/>
          <p:cNvSpPr txBox="1"/>
          <p:nvPr/>
        </p:nvSpPr>
        <p:spPr>
          <a:xfrm>
            <a:off x="4526280" y="3998679"/>
            <a:ext cx="6446520" cy="886397"/>
          </a:xfrm>
          <a:prstGeom prst="rect">
            <a:avLst/>
          </a:prstGeom>
          <a:noFill/>
        </p:spPr>
        <p:txBody>
          <a:bodyPr wrap="square" lIns="27432" tIns="27432" rIns="27432" bIns="27432" anchor="t">
            <a:spAutoFit/>
          </a:bodyPr>
          <a:lstStyle/>
          <a:p>
            <a:r>
              <a:rPr b="0" dirty="0">
                <a:solidFill>
                  <a:srgbClr val="B9C0CF"/>
                </a:solidFill>
                <a:latin typeface="Aptos"/>
              </a:rPr>
              <a:t>Completed-booking revenue for six months, route frequency, pickup waiting time, trip-length revenue and Sedan vs SUV revenue</a:t>
            </a:r>
            <a:r>
              <a:rPr sz="1250" b="0" dirty="0">
                <a:solidFill>
                  <a:srgbClr val="B9C0CF"/>
                </a:solidFill>
                <a:latin typeface="Aptos"/>
              </a:rPr>
              <a:t>.</a:t>
            </a:r>
          </a:p>
        </p:txBody>
      </p:sp>
      <p:sp>
        <p:nvSpPr>
          <p:cNvPr id="15" name="Rectangle 14"/>
          <p:cNvSpPr/>
          <p:nvPr/>
        </p:nvSpPr>
        <p:spPr>
          <a:xfrm>
            <a:off x="896112" y="5020056"/>
            <a:ext cx="109728" cy="758952"/>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5205488"/>
            <a:ext cx="3246120" cy="332399"/>
          </a:xfrm>
          <a:prstGeom prst="rect">
            <a:avLst/>
          </a:prstGeom>
          <a:noFill/>
        </p:spPr>
        <p:txBody>
          <a:bodyPr wrap="square" lIns="27432" tIns="27432" rIns="27432" bIns="27432" anchor="t">
            <a:spAutoFit/>
          </a:bodyPr>
          <a:lstStyle/>
          <a:p>
            <a:r>
              <a:rPr b="1" dirty="0">
                <a:solidFill>
                  <a:srgbClr val="F7F8FB"/>
                </a:solidFill>
                <a:latin typeface="Aptos"/>
              </a:rPr>
              <a:t>Comparative analysis</a:t>
            </a:r>
          </a:p>
        </p:txBody>
      </p:sp>
      <p:sp>
        <p:nvSpPr>
          <p:cNvPr id="17" name="TextBox 16"/>
          <p:cNvSpPr txBox="1"/>
          <p:nvPr/>
        </p:nvSpPr>
        <p:spPr>
          <a:xfrm>
            <a:off x="4526280" y="5067840"/>
            <a:ext cx="6446520" cy="886397"/>
          </a:xfrm>
          <a:prstGeom prst="rect">
            <a:avLst/>
          </a:prstGeom>
          <a:noFill/>
        </p:spPr>
        <p:txBody>
          <a:bodyPr wrap="square" lIns="27432" tIns="27432" rIns="27432" bIns="27432" anchor="t">
            <a:spAutoFit/>
          </a:bodyPr>
          <a:lstStyle/>
          <a:p>
            <a:r>
              <a:rPr b="0" dirty="0">
                <a:solidFill>
                  <a:srgbClr val="B9C0CF"/>
                </a:solidFill>
                <a:latin typeface="Aptos"/>
              </a:rPr>
              <a:t>Weekday vs weekend bookings, drivers above average trip counts, customers with no cancellations and customers inactive for 30 days.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113464" y="18288"/>
            <a:ext cx="10698480" cy="502920"/>
          </a:xfrm>
          <a:prstGeom prst="rect">
            <a:avLst/>
          </a:prstGeom>
          <a:noFill/>
        </p:spPr>
        <p:txBody>
          <a:bodyPr wrap="square" lIns="27432" tIns="27432" rIns="27432" bIns="27432" anchor="t">
            <a:spAutoFit/>
          </a:bodyPr>
          <a:lstStyle/>
          <a:p>
            <a:r>
              <a:rPr sz="2800" b="1">
                <a:solidFill>
                  <a:srgbClr val="F7F8FB"/>
                </a:solidFill>
                <a:latin typeface="Aptos"/>
              </a:rPr>
              <a:t>Project Evidence</a:t>
            </a:r>
          </a:p>
        </p:txBody>
      </p:sp>
      <p:sp>
        <p:nvSpPr>
          <p:cNvPr id="3" name="Rectangle 2"/>
          <p:cNvSpPr/>
          <p:nvPr/>
        </p:nvSpPr>
        <p:spPr>
          <a:xfrm>
            <a:off x="162624" y="501053"/>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dirty="0">
                <a:solidFill>
                  <a:srgbClr val="B9C0CF"/>
                </a:solidFill>
                <a:latin typeface="Aptos"/>
              </a:rPr>
              <a:t>CAB BOOKING SYSTEM  •  05</a:t>
            </a:r>
          </a:p>
        </p:txBody>
      </p:sp>
      <p:sp>
        <p:nvSpPr>
          <p:cNvPr id="7" name="Rounded Rectangle 6"/>
          <p:cNvSpPr/>
          <p:nvPr/>
        </p:nvSpPr>
        <p:spPr>
          <a:xfrm>
            <a:off x="896112" y="1337187"/>
            <a:ext cx="10378440" cy="4999605"/>
          </a:xfrm>
          <a:prstGeom prst="roundRect">
            <a:avLst>
              <a:gd name="adj" fmla="val 12000"/>
            </a:avLst>
          </a:prstGeom>
          <a:solidFill>
            <a:srgbClr val="273045"/>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F4B5D6FA-8A9D-FF37-0F3E-544C678F45A4}"/>
              </a:ext>
            </a:extLst>
          </p:cNvPr>
          <p:cNvPicPr>
            <a:picLocks noChangeAspect="1"/>
          </p:cNvPicPr>
          <p:nvPr/>
        </p:nvPicPr>
        <p:blipFill>
          <a:blip r:embed="rId2"/>
          <a:stretch>
            <a:fillRect/>
          </a:stretch>
        </p:blipFill>
        <p:spPr>
          <a:xfrm>
            <a:off x="162624" y="721655"/>
            <a:ext cx="11872060" cy="57248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a:extLst>
            <a:ext uri="{FF2B5EF4-FFF2-40B4-BE49-F238E27FC236}">
              <a16:creationId xmlns:a16="http://schemas.microsoft.com/office/drawing/2014/main" id="{C565CF1A-16E3-4D81-7664-69ECFC8644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733703-58A3-D369-9384-9FCBB118EC88}"/>
              </a:ext>
            </a:extLst>
          </p:cNvPr>
          <p:cNvSpPr txBox="1"/>
          <p:nvPr/>
        </p:nvSpPr>
        <p:spPr>
          <a:xfrm>
            <a:off x="113464" y="0"/>
            <a:ext cx="10698480" cy="502920"/>
          </a:xfrm>
          <a:prstGeom prst="rect">
            <a:avLst/>
          </a:prstGeom>
          <a:noFill/>
        </p:spPr>
        <p:txBody>
          <a:bodyPr wrap="square" lIns="27432" tIns="27432" rIns="27432" bIns="27432" anchor="t">
            <a:spAutoFit/>
          </a:bodyPr>
          <a:lstStyle/>
          <a:p>
            <a:r>
              <a:rPr sz="2800" b="1" dirty="0">
                <a:solidFill>
                  <a:srgbClr val="F7F8FB"/>
                </a:solidFill>
                <a:latin typeface="Aptos"/>
              </a:rPr>
              <a:t>Project Evidence</a:t>
            </a:r>
          </a:p>
        </p:txBody>
      </p:sp>
      <p:sp>
        <p:nvSpPr>
          <p:cNvPr id="3" name="Rectangle 2">
            <a:extLst>
              <a:ext uri="{FF2B5EF4-FFF2-40B4-BE49-F238E27FC236}">
                <a16:creationId xmlns:a16="http://schemas.microsoft.com/office/drawing/2014/main" id="{9B84332B-C261-78AC-DA00-016D592E3E04}"/>
              </a:ext>
            </a:extLst>
          </p:cNvPr>
          <p:cNvSpPr/>
          <p:nvPr/>
        </p:nvSpPr>
        <p:spPr>
          <a:xfrm>
            <a:off x="172456" y="471549"/>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40840DE-1756-B2EC-D63A-9195C8046E2F}"/>
              </a:ext>
            </a:extLst>
          </p:cNvPr>
          <p:cNvSpPr txBox="1"/>
          <p:nvPr/>
        </p:nvSpPr>
        <p:spPr>
          <a:xfrm>
            <a:off x="731520" y="6510528"/>
            <a:ext cx="4572000" cy="186205"/>
          </a:xfrm>
          <a:prstGeom prst="rect">
            <a:avLst/>
          </a:prstGeom>
          <a:noFill/>
        </p:spPr>
        <p:txBody>
          <a:bodyPr wrap="square" lIns="27432" tIns="27432" rIns="27432" bIns="27432" anchor="t">
            <a:spAutoFit/>
          </a:bodyPr>
          <a:lstStyle/>
          <a:p>
            <a:r>
              <a:rPr sz="850" b="1" dirty="0">
                <a:solidFill>
                  <a:srgbClr val="B9C0CF"/>
                </a:solidFill>
                <a:latin typeface="Aptos"/>
              </a:rPr>
              <a:t>CAB BOOKING SYSTEM  •  0</a:t>
            </a:r>
            <a:r>
              <a:rPr lang="en-US" sz="850" b="1" dirty="0">
                <a:solidFill>
                  <a:srgbClr val="B9C0CF"/>
                </a:solidFill>
                <a:latin typeface="Aptos"/>
              </a:rPr>
              <a:t>6</a:t>
            </a:r>
            <a:endParaRPr sz="850" b="1" dirty="0">
              <a:solidFill>
                <a:srgbClr val="B9C0CF"/>
              </a:solidFill>
              <a:latin typeface="Aptos"/>
            </a:endParaRPr>
          </a:p>
        </p:txBody>
      </p:sp>
      <p:sp>
        <p:nvSpPr>
          <p:cNvPr id="7" name="Rounded Rectangle 6">
            <a:extLst>
              <a:ext uri="{FF2B5EF4-FFF2-40B4-BE49-F238E27FC236}">
                <a16:creationId xmlns:a16="http://schemas.microsoft.com/office/drawing/2014/main" id="{BF2C0AFE-DEDF-3018-510D-A7D6934FD2DA}"/>
              </a:ext>
            </a:extLst>
          </p:cNvPr>
          <p:cNvSpPr/>
          <p:nvPr/>
        </p:nvSpPr>
        <p:spPr>
          <a:xfrm>
            <a:off x="896112" y="1337187"/>
            <a:ext cx="10378440" cy="4999605"/>
          </a:xfrm>
          <a:prstGeom prst="roundRect">
            <a:avLst>
              <a:gd name="adj" fmla="val 12000"/>
            </a:avLst>
          </a:prstGeom>
          <a:solidFill>
            <a:srgbClr val="273045"/>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98AFC699-4A58-03AF-CD3B-FF6248386D8C}"/>
              </a:ext>
            </a:extLst>
          </p:cNvPr>
          <p:cNvPicPr>
            <a:picLocks noChangeAspect="1"/>
          </p:cNvPicPr>
          <p:nvPr/>
        </p:nvPicPr>
        <p:blipFill>
          <a:blip r:embed="rId2"/>
          <a:stretch>
            <a:fillRect/>
          </a:stretch>
        </p:blipFill>
        <p:spPr>
          <a:xfrm>
            <a:off x="152793" y="676656"/>
            <a:ext cx="11813066" cy="5742433"/>
          </a:xfrm>
          <a:prstGeom prst="rect">
            <a:avLst/>
          </a:prstGeom>
        </p:spPr>
      </p:pic>
    </p:spTree>
    <p:extLst>
      <p:ext uri="{BB962C8B-B14F-4D97-AF65-F5344CB8AC3E}">
        <p14:creationId xmlns:p14="http://schemas.microsoft.com/office/powerpoint/2010/main" val="3235972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a:extLst>
            <a:ext uri="{FF2B5EF4-FFF2-40B4-BE49-F238E27FC236}">
              <a16:creationId xmlns:a16="http://schemas.microsoft.com/office/drawing/2014/main" id="{2B9BF771-F88B-EEF3-D51E-3AC8A639C0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FC7ECC-5204-9912-343C-53C357E8B97D}"/>
              </a:ext>
            </a:extLst>
          </p:cNvPr>
          <p:cNvSpPr txBox="1"/>
          <p:nvPr/>
        </p:nvSpPr>
        <p:spPr>
          <a:xfrm>
            <a:off x="113464" y="0"/>
            <a:ext cx="10698480" cy="502920"/>
          </a:xfrm>
          <a:prstGeom prst="rect">
            <a:avLst/>
          </a:prstGeom>
          <a:noFill/>
        </p:spPr>
        <p:txBody>
          <a:bodyPr wrap="square" lIns="27432" tIns="27432" rIns="27432" bIns="27432" anchor="t">
            <a:spAutoFit/>
          </a:bodyPr>
          <a:lstStyle/>
          <a:p>
            <a:r>
              <a:rPr sz="2800" b="1" dirty="0">
                <a:solidFill>
                  <a:srgbClr val="F7F8FB"/>
                </a:solidFill>
                <a:latin typeface="Aptos"/>
              </a:rPr>
              <a:t>Project Evidence</a:t>
            </a:r>
          </a:p>
        </p:txBody>
      </p:sp>
      <p:sp>
        <p:nvSpPr>
          <p:cNvPr id="3" name="Rectangle 2">
            <a:extLst>
              <a:ext uri="{FF2B5EF4-FFF2-40B4-BE49-F238E27FC236}">
                <a16:creationId xmlns:a16="http://schemas.microsoft.com/office/drawing/2014/main" id="{2E3E0CF2-78F8-7A45-EFA2-8F9687F0A237}"/>
              </a:ext>
            </a:extLst>
          </p:cNvPr>
          <p:cNvSpPr/>
          <p:nvPr/>
        </p:nvSpPr>
        <p:spPr>
          <a:xfrm>
            <a:off x="172456" y="471549"/>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407A4BF-C22A-3D7B-F8E0-52D82AA99D4E}"/>
              </a:ext>
            </a:extLst>
          </p:cNvPr>
          <p:cNvSpPr txBox="1"/>
          <p:nvPr/>
        </p:nvSpPr>
        <p:spPr>
          <a:xfrm>
            <a:off x="731520" y="6510528"/>
            <a:ext cx="4572000" cy="186205"/>
          </a:xfrm>
          <a:prstGeom prst="rect">
            <a:avLst/>
          </a:prstGeom>
          <a:noFill/>
        </p:spPr>
        <p:txBody>
          <a:bodyPr wrap="square" lIns="27432" tIns="27432" rIns="27432" bIns="27432" anchor="t">
            <a:spAutoFit/>
          </a:bodyPr>
          <a:lstStyle/>
          <a:p>
            <a:r>
              <a:rPr sz="850" b="1" dirty="0">
                <a:solidFill>
                  <a:srgbClr val="B9C0CF"/>
                </a:solidFill>
                <a:latin typeface="Aptos"/>
              </a:rPr>
              <a:t>CAB BOOKING SYSTEM  •  0</a:t>
            </a:r>
            <a:r>
              <a:rPr lang="en-US" sz="850" b="1" dirty="0">
                <a:solidFill>
                  <a:srgbClr val="B9C0CF"/>
                </a:solidFill>
                <a:latin typeface="Aptos"/>
              </a:rPr>
              <a:t>7</a:t>
            </a:r>
            <a:endParaRPr sz="850" b="1" dirty="0">
              <a:solidFill>
                <a:srgbClr val="B9C0CF"/>
              </a:solidFill>
              <a:latin typeface="Aptos"/>
            </a:endParaRPr>
          </a:p>
        </p:txBody>
      </p:sp>
      <p:sp>
        <p:nvSpPr>
          <p:cNvPr id="7" name="Rounded Rectangle 6">
            <a:extLst>
              <a:ext uri="{FF2B5EF4-FFF2-40B4-BE49-F238E27FC236}">
                <a16:creationId xmlns:a16="http://schemas.microsoft.com/office/drawing/2014/main" id="{5C308D10-6592-2BB0-433B-0E262C9EE197}"/>
              </a:ext>
            </a:extLst>
          </p:cNvPr>
          <p:cNvSpPr/>
          <p:nvPr/>
        </p:nvSpPr>
        <p:spPr>
          <a:xfrm>
            <a:off x="896112" y="1337187"/>
            <a:ext cx="10378440" cy="4999605"/>
          </a:xfrm>
          <a:prstGeom prst="roundRect">
            <a:avLst>
              <a:gd name="adj" fmla="val 12000"/>
            </a:avLst>
          </a:prstGeom>
          <a:solidFill>
            <a:srgbClr val="273045"/>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a:extLst>
              <a:ext uri="{FF2B5EF4-FFF2-40B4-BE49-F238E27FC236}">
                <a16:creationId xmlns:a16="http://schemas.microsoft.com/office/drawing/2014/main" id="{3B44C09A-39BF-DB41-BDDF-748D32114858}"/>
              </a:ext>
            </a:extLst>
          </p:cNvPr>
          <p:cNvPicPr>
            <a:picLocks noChangeAspect="1"/>
          </p:cNvPicPr>
          <p:nvPr/>
        </p:nvPicPr>
        <p:blipFill>
          <a:blip r:embed="rId2"/>
          <a:stretch>
            <a:fillRect/>
          </a:stretch>
        </p:blipFill>
        <p:spPr>
          <a:xfrm>
            <a:off x="162624" y="676656"/>
            <a:ext cx="11813067" cy="5801235"/>
          </a:xfrm>
          <a:prstGeom prst="rect">
            <a:avLst/>
          </a:prstGeom>
        </p:spPr>
      </p:pic>
    </p:spTree>
    <p:extLst>
      <p:ext uri="{BB962C8B-B14F-4D97-AF65-F5344CB8AC3E}">
        <p14:creationId xmlns:p14="http://schemas.microsoft.com/office/powerpoint/2010/main" val="55113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Conclusion</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77627" y="1298448"/>
            <a:ext cx="10698480" cy="363176"/>
          </a:xfrm>
          <a:prstGeom prst="rect">
            <a:avLst/>
          </a:prstGeom>
          <a:noFill/>
        </p:spPr>
        <p:txBody>
          <a:bodyPr wrap="square" lIns="27432" tIns="27432" rIns="27432" bIns="27432" anchor="t">
            <a:spAutoFit/>
          </a:bodyPr>
          <a:lstStyle/>
          <a:p>
            <a:r>
              <a:rPr sz="2000" b="0" dirty="0">
                <a:solidFill>
                  <a:srgbClr val="B9C0CF"/>
                </a:solidFill>
                <a:latin typeface="Aptos"/>
              </a:rPr>
              <a:t>Summary of the SQL analysis and skills demonstrated.</a:t>
            </a:r>
          </a:p>
        </p:txBody>
      </p:sp>
      <p:sp>
        <p:nvSpPr>
          <p:cNvPr id="5" name="TextBox 4"/>
          <p:cNvSpPr txBox="1"/>
          <p:nvPr/>
        </p:nvSpPr>
        <p:spPr>
          <a:xfrm>
            <a:off x="731520" y="6510528"/>
            <a:ext cx="4572000" cy="186205"/>
          </a:xfrm>
          <a:prstGeom prst="rect">
            <a:avLst/>
          </a:prstGeom>
          <a:noFill/>
        </p:spPr>
        <p:txBody>
          <a:bodyPr wrap="square" lIns="27432" tIns="27432" rIns="27432" bIns="27432" anchor="t">
            <a:spAutoFit/>
          </a:bodyPr>
          <a:lstStyle/>
          <a:p>
            <a:r>
              <a:rPr sz="850" b="1">
                <a:solidFill>
                  <a:srgbClr val="B9C0CF"/>
                </a:solidFill>
                <a:latin typeface="Aptos"/>
              </a:rPr>
              <a:t>CAB BOOKING SYSTEM  •  0</a:t>
            </a:r>
            <a:r>
              <a:rPr lang="en-US" sz="850" b="1">
                <a:solidFill>
                  <a:srgbClr val="B9C0CF"/>
                </a:solidFill>
                <a:latin typeface="Aptos"/>
              </a:rPr>
              <a:t>8</a:t>
            </a:r>
            <a:endParaRPr sz="850" b="1">
              <a:solidFill>
                <a:srgbClr val="B9C0CF"/>
              </a:solidFill>
              <a:latin typeface="Aptos"/>
            </a:endParaRPr>
          </a:p>
        </p:txBody>
      </p:sp>
      <p:sp>
        <p:nvSpPr>
          <p:cNvPr id="6" name="TextBox 5"/>
          <p:cNvSpPr txBox="1"/>
          <p:nvPr/>
        </p:nvSpPr>
        <p:spPr>
          <a:xfrm>
            <a:off x="896112" y="1828800"/>
            <a:ext cx="10241280" cy="1286506"/>
          </a:xfrm>
          <a:prstGeom prst="rect">
            <a:avLst/>
          </a:prstGeom>
          <a:noFill/>
        </p:spPr>
        <p:txBody>
          <a:bodyPr wrap="square" lIns="27432" tIns="27432" rIns="27432" bIns="27432" anchor="t">
            <a:spAutoFit/>
          </a:bodyPr>
          <a:lstStyle/>
          <a:p>
            <a:r>
              <a:rPr sz="2000" b="1" dirty="0">
                <a:solidFill>
                  <a:srgbClr val="F7F8FB"/>
                </a:solidFill>
                <a:latin typeface="Aptos"/>
              </a:rPr>
              <a:t>This project uses a relational database and SQL queries to examine customer booking behavior, driver performance, revenue patterns and operational efficiency. The results can help a cab service identify busy periods, review cancellations and compare trip and cab performance.</a:t>
            </a:r>
          </a:p>
        </p:txBody>
      </p:sp>
      <p:sp>
        <p:nvSpPr>
          <p:cNvPr id="7" name="TextBox 6"/>
          <p:cNvSpPr txBox="1"/>
          <p:nvPr/>
        </p:nvSpPr>
        <p:spPr>
          <a:xfrm>
            <a:off x="896112" y="3337560"/>
            <a:ext cx="3840480" cy="363176"/>
          </a:xfrm>
          <a:prstGeom prst="rect">
            <a:avLst/>
          </a:prstGeom>
          <a:noFill/>
        </p:spPr>
        <p:txBody>
          <a:bodyPr wrap="square" lIns="27432" tIns="27432" rIns="27432" bIns="27432" anchor="t">
            <a:spAutoFit/>
          </a:bodyPr>
          <a:lstStyle/>
          <a:p>
            <a:r>
              <a:rPr sz="2000" b="1" dirty="0">
                <a:solidFill>
                  <a:srgbClr val="DE1848"/>
                </a:solidFill>
                <a:latin typeface="Aptos"/>
              </a:rPr>
              <a:t>KEY LEARNING AREAS</a:t>
            </a:r>
          </a:p>
        </p:txBody>
      </p:sp>
      <p:sp>
        <p:nvSpPr>
          <p:cNvPr id="8" name="TextBox 7"/>
          <p:cNvSpPr txBox="1"/>
          <p:nvPr/>
        </p:nvSpPr>
        <p:spPr>
          <a:xfrm>
            <a:off x="914400" y="3767328"/>
            <a:ext cx="8686800" cy="332399"/>
          </a:xfrm>
          <a:prstGeom prst="rect">
            <a:avLst/>
          </a:prstGeom>
          <a:noFill/>
        </p:spPr>
        <p:txBody>
          <a:bodyPr wrap="square" lIns="27432" tIns="27432" rIns="27432" bIns="27432" anchor="t">
            <a:spAutoFit/>
          </a:bodyPr>
          <a:lstStyle/>
          <a:p>
            <a:r>
              <a:rPr b="0" dirty="0">
                <a:solidFill>
                  <a:srgbClr val="F7F8FB"/>
                </a:solidFill>
                <a:latin typeface="Aptos"/>
              </a:rPr>
              <a:t>• Joining multiple relational tables</a:t>
            </a:r>
          </a:p>
        </p:txBody>
      </p:sp>
      <p:sp>
        <p:nvSpPr>
          <p:cNvPr id="9" name="TextBox 8"/>
          <p:cNvSpPr txBox="1"/>
          <p:nvPr/>
        </p:nvSpPr>
        <p:spPr>
          <a:xfrm>
            <a:off x="914400" y="4206240"/>
            <a:ext cx="8686800" cy="332399"/>
          </a:xfrm>
          <a:prstGeom prst="rect">
            <a:avLst/>
          </a:prstGeom>
          <a:noFill/>
        </p:spPr>
        <p:txBody>
          <a:bodyPr wrap="square" lIns="27432" tIns="27432" rIns="27432" bIns="27432" anchor="t">
            <a:spAutoFit/>
          </a:bodyPr>
          <a:lstStyle/>
          <a:p>
            <a:r>
              <a:rPr b="0" dirty="0">
                <a:solidFill>
                  <a:srgbClr val="F7F8FB"/>
                </a:solidFill>
                <a:latin typeface="Aptos"/>
              </a:rPr>
              <a:t>• Aggregating and grouping business data</a:t>
            </a:r>
          </a:p>
        </p:txBody>
      </p:sp>
      <p:sp>
        <p:nvSpPr>
          <p:cNvPr id="10" name="TextBox 9"/>
          <p:cNvSpPr txBox="1"/>
          <p:nvPr/>
        </p:nvSpPr>
        <p:spPr>
          <a:xfrm>
            <a:off x="914400" y="4645152"/>
            <a:ext cx="8686800" cy="332399"/>
          </a:xfrm>
          <a:prstGeom prst="rect">
            <a:avLst/>
          </a:prstGeom>
          <a:noFill/>
        </p:spPr>
        <p:txBody>
          <a:bodyPr wrap="square" lIns="27432" tIns="27432" rIns="27432" bIns="27432" anchor="t">
            <a:spAutoFit/>
          </a:bodyPr>
          <a:lstStyle/>
          <a:p>
            <a:r>
              <a:rPr b="0" dirty="0">
                <a:solidFill>
                  <a:srgbClr val="F7F8FB"/>
                </a:solidFill>
                <a:latin typeface="Aptos"/>
              </a:rPr>
              <a:t>• Using CASE expressions, date functions and subqueries</a:t>
            </a:r>
          </a:p>
        </p:txBody>
      </p:sp>
      <p:sp>
        <p:nvSpPr>
          <p:cNvPr id="11" name="TextBox 10"/>
          <p:cNvSpPr txBox="1"/>
          <p:nvPr/>
        </p:nvSpPr>
        <p:spPr>
          <a:xfrm>
            <a:off x="914400" y="5084064"/>
            <a:ext cx="8686800" cy="332399"/>
          </a:xfrm>
          <a:prstGeom prst="rect">
            <a:avLst/>
          </a:prstGeom>
          <a:noFill/>
        </p:spPr>
        <p:txBody>
          <a:bodyPr wrap="square" lIns="27432" tIns="27432" rIns="27432" bIns="27432" anchor="t">
            <a:spAutoFit/>
          </a:bodyPr>
          <a:lstStyle/>
          <a:p>
            <a:r>
              <a:rPr b="0" dirty="0">
                <a:solidFill>
                  <a:srgbClr val="F7F8FB"/>
                </a:solidFill>
                <a:latin typeface="Aptos"/>
              </a:rPr>
              <a:t>• Translating business questions into SQL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TotalTime>
  <Words>457</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Dattatray Jadhav</cp:lastModifiedBy>
  <cp:revision>2</cp:revision>
  <dcterms:created xsi:type="dcterms:W3CDTF">2013-01-27T09:14:16Z</dcterms:created>
  <dcterms:modified xsi:type="dcterms:W3CDTF">2026-10-24T06:25:59Z</dcterms:modified>
  <cp:category/>
</cp:coreProperties>
</file>